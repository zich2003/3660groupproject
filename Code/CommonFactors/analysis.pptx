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0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24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5.xml" ContentType="application/vnd.openxmlformats-officedocument.presentationml.slideLayout+xml"/>
  <Override PartName="/ppt/slides/slide26.xml" ContentType="application/vnd.openxmlformats-officedocument.presentationml.slide+xml"/>
  <Override PartName="/ppt/slideLayouts/slideLayout26.xml" ContentType="application/vnd.openxmlformats-officedocument.presentationml.slideLayout+xml"/>
  <Override PartName="/ppt/slides/slide27.xml" ContentType="application/vnd.openxmlformats-officedocument.presentationml.slide+xml"/>
  <Override PartName="/ppt/slideLayouts/slideLayout27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28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29.xml" ContentType="application/vnd.openxmlformats-officedocument.presentationml.slideLayout+xml"/>
  <Override PartName="/ppt/slides/slide30.xml" ContentType="application/vnd.openxmlformats-officedocument.presentationml.slide+xml"/>
  <Override PartName="/ppt/slideLayouts/slideLayout30.xml" ContentType="application/vnd.openxmlformats-officedocument.presentationml.slideLayout+xml"/>
  <Override PartName="/ppt/slides/slide31.xml" ContentType="application/vnd.openxmlformats-officedocument.presentationml.slide+xml"/>
  <Override PartName="/ppt/slideLayouts/slideLayout31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32.xml" ContentType="application/vnd.openxmlformats-officedocument.presentationml.slideLayout+xml"/>
  <Override PartName="/ppt/theme/theme1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Default Extension="rels" ContentType="application/vnd.openxmlformats-package.relationships+xml"/>
  <Default Extension="xml" ContentType="application/xml"/>
  <Default Extension="png" ContentType="image/png"/>
</Types>
</file>

<file path=_rels/.rels><?xml version="1.0" encoding="UTF-8" standalone="yes"?>
<Relationships xmlns="http://schemas.openxmlformats.org/package/2006/relationships">
   <Relationship Id="rId1" Type="http://schemas.openxmlformats.org/officeDocument/2006/relationships/officeDocument" Target="ppt/presentation.xml"/>
   <Relationship Id="rId2" Type="http://schemas.openxmlformats.org/officeDocument/2006/relationships/extended-properties" Target="docProps/app.xml"/>
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89" r:id="rId3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type="screen4x3" cy="6858000" cx="9144000"/>
  <p:notesSz cy="9144000" cx="6858000"/>
  <p:defaultTextStyle>
    <a:defPPr>
      <a:defRPr lang="zh-CN"/>
    </a:defPPr>
    <a:lvl1pPr algn="l" latinLnBrk="0" eaLnBrk="1" rtl="0" defTabSz="914400" marL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algn="l" latinLnBrk="0" eaLnBrk="1" rtl="0" defTabSz="914400" marL="45720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algn="l" latinLnBrk="0" eaLnBrk="1" rtl="0" defTabSz="914400" marL="91440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algn="l" latinLnBrk="0" eaLnBrk="1" rtl="0" defTabSz="914400" marL="137160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algn="l" latinLnBrk="0" eaLnBrk="1" rtl="0" defTabSz="914400" marL="182880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algn="l" latinLnBrk="0" eaLnBrk="1" rtl="0" defTabSz="914400" marL="228600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algn="l" latinLnBrk="0" eaLnBrk="1" rtl="0" defTabSz="914400" marL="274320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algn="l" latinLnBrk="0" eaLnBrk="1" rtl="0" defTabSz="914400" marL="320040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algn="l" latinLnBrk="0" eaLnBrk="1" rtl="0" defTabSz="914400" marL="365760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{28728DF5-CD0E-624D-BD36-3F3F8ECC4EAE}">
  <a:tblStyle styleId="{28728DF5-CD0E-624D-BD36-3F3F8ECC4EAE}" styleName="ODS Style 1">
    <a:wholeTbl>
      <a:tcTxStyle>
        <a:fontRef idx="minor">
          <a:prstClr val="black"/>
        </a:fontRef>
        <a:schemeClr val="tx1"/>
      </a:tcTxStyle>
      <a:tcStyle>
        <a:tcBdr>
          <a:left>
            <a:ln w="6350" cmpd="sng">
              <a:solidFill>
                <a:schemeClr val="bg2"/>
              </a:solidFill>
            </a:ln>
          </a:left>
          <a:right>
            <a:ln w="6350" cmpd="sng">
              <a:solidFill>
                <a:schemeClr val="bg2"/>
              </a:solidFill>
            </a:ln>
          </a:right>
          <a:top>
            <a:ln w="6350" cmpd="sng">
              <a:solidFill>
                <a:schemeClr val="bg2"/>
              </a:solidFill>
            </a:ln>
          </a:top>
          <a:bottom>
            <a:ln w="6350" cmpd="sng">
              <a:solidFill>
                <a:schemeClr val="bg2"/>
              </a:solidFill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 w="12700" cmpd="sng">
              <a:solidFill>
                <a:schemeClr val="bg2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
   <Relationship Id="rId1" Type="http://schemas.openxmlformats.org/officeDocument/2006/relationships/slide" Target="slides/slide1.xml"/>
   <Relationship Id="rId2" Type="http://schemas.openxmlformats.org/officeDocument/2006/relationships/slide" Target="slides/slide2.xml"/>
   <Relationship Id="rId3" Type="http://schemas.openxmlformats.org/officeDocument/2006/relationships/slide" Target="slides/slide3.xml"/>
   <Relationship Id="rId4" Type="http://schemas.openxmlformats.org/officeDocument/2006/relationships/slide" Target="slides/slide4.xml"/>
   <Relationship Id="rId5" Type="http://schemas.openxmlformats.org/officeDocument/2006/relationships/slide" Target="slides/slide5.xml"/>
   <Relationship Id="rId6" Type="http://schemas.openxmlformats.org/officeDocument/2006/relationships/slide" Target="slides/slide6.xml"/>
   <Relationship Id="rId7" Type="http://schemas.openxmlformats.org/officeDocument/2006/relationships/slide" Target="slides/slide7.xml"/>
   <Relationship Id="rId8" Type="http://schemas.openxmlformats.org/officeDocument/2006/relationships/slide" Target="slides/slide8.xml"/>
   <Relationship Id="rId9" Type="http://schemas.openxmlformats.org/officeDocument/2006/relationships/slide" Target="slides/slide9.xml"/>
   <Relationship Id="rId10" Type="http://schemas.openxmlformats.org/officeDocument/2006/relationships/slide" Target="slides/slide10.xml"/>
   <Relationship Id="rId11" Type="http://schemas.openxmlformats.org/officeDocument/2006/relationships/slide" Target="slides/slide11.xml"/>
   <Relationship Id="rId12" Type="http://schemas.openxmlformats.org/officeDocument/2006/relationships/slide" Target="slides/slide12.xml"/>
   <Relationship Id="rId13" Type="http://schemas.openxmlformats.org/officeDocument/2006/relationships/slide" Target="slides/slide13.xml"/>
   <Relationship Id="rId14" Type="http://schemas.openxmlformats.org/officeDocument/2006/relationships/slide" Target="slides/slide14.xml"/>
   <Relationship Id="rId15" Type="http://schemas.openxmlformats.org/officeDocument/2006/relationships/slide" Target="slides/slide15.xml"/>
   <Relationship Id="rId16" Type="http://schemas.openxmlformats.org/officeDocument/2006/relationships/slide" Target="slides/slide16.xml"/>
   <Relationship Id="rId17" Type="http://schemas.openxmlformats.org/officeDocument/2006/relationships/slide" Target="slides/slide17.xml"/>
   <Relationship Id="rId18" Type="http://schemas.openxmlformats.org/officeDocument/2006/relationships/slide" Target="slides/slide18.xml"/>
   <Relationship Id="rId19" Type="http://schemas.openxmlformats.org/officeDocument/2006/relationships/slide" Target="slides/slide19.xml"/>
   <Relationship Id="rId20" Type="http://schemas.openxmlformats.org/officeDocument/2006/relationships/slide" Target="slides/slide20.xml"/>
   <Relationship Id="rId21" Type="http://schemas.openxmlformats.org/officeDocument/2006/relationships/slide" Target="slides/slide21.xml"/>
   <Relationship Id="rId22" Type="http://schemas.openxmlformats.org/officeDocument/2006/relationships/slide" Target="slides/slide22.xml"/>
   <Relationship Id="rId23" Type="http://schemas.openxmlformats.org/officeDocument/2006/relationships/slide" Target="slides/slide23.xml"/>
   <Relationship Id="rId24" Type="http://schemas.openxmlformats.org/officeDocument/2006/relationships/slide" Target="slides/slide24.xml"/>
   <Relationship Id="rId25" Type="http://schemas.openxmlformats.org/officeDocument/2006/relationships/slide" Target="slides/slide25.xml"/>
   <Relationship Id="rId26" Type="http://schemas.openxmlformats.org/officeDocument/2006/relationships/slide" Target="slides/slide26.xml"/>
   <Relationship Id="rId27" Type="http://schemas.openxmlformats.org/officeDocument/2006/relationships/slide" Target="slides/slide27.xml"/>
   <Relationship Id="rId28" Type="http://schemas.openxmlformats.org/officeDocument/2006/relationships/slide" Target="slides/slide28.xml"/>
   <Relationship Id="rId29" Type="http://schemas.openxmlformats.org/officeDocument/2006/relationships/slide" Target="slides/slide29.xml"/>
   <Relationship Id="rId30" Type="http://schemas.openxmlformats.org/officeDocument/2006/relationships/slide" Target="slides/slide30.xml"/>
   <Relationship Id="rId31" Type="http://schemas.openxmlformats.org/officeDocument/2006/relationships/slide" Target="slides/slide31.xml"/>
   <Relationship Id="rId32" Type="http://schemas.openxmlformats.org/officeDocument/2006/relationships/slide" Target="slides/slide32.xml"/>
   <Relationship Id="rId33" Type="http://schemas.openxmlformats.org/officeDocument/2006/relationships/viewProps" Target="viewProps.xml"/>
   <Relationship Id="rId34" Type="http://schemas.openxmlformats.org/officeDocument/2006/relationships/presProps" Target="presProps.xml"/>
   <Relationship Id="rId35" Type="http://schemas.openxmlformats.org/officeDocument/2006/relationships/tableStyles" Target="tableStyles.xml"/>
   <Relationship Id="rId36" Type="http://schemas.openxmlformats.org/officeDocument/2006/relationships/theme" Target="theme/theme1.xml"/>
   <Relationship Id="rId37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989330"/>
            <a:ext cy="1905000" cx="71653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941195"/>
            <a:ext cy="1905000" cx="52609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886460"/>
            <a:ext cy="1905000" cx="73704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767840"/>
            <a:ext cy="1905000" cx="560832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906270"/>
            <a:ext cy="1143000" cx="53314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971800" x="1697355"/>
            <a:ext cy="1143000" cx="574865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971800" x="2338070"/>
            <a:ext cy="3352800" cx="446786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971800" x="1591310"/>
            <a:ext cy="3352800" cx="596138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151255"/>
            <a:ext cy="1905000" cx="684149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406900" x="2061210"/>
            <a:ext cy="1905000" cx="5021580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048385"/>
            <a:ext cy="1905000" cx="7046595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406900" x="1887220"/>
            <a:ext cy="1905000" cx="536892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951990"/>
            <a:ext cy="1143000" cx="523938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693545"/>
            <a:ext cy="1143000" cx="57562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438400" x="1981200"/>
            <a:ext cy="3883025" cx="518160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Picture Placeholder 1"/>
          <p:cNvSpPr>
            <a:spLocks noGrp="1"/>
          </p:cNvSpPr>
          <p:nvPr>
            <p:ph idx="2" type="pic"/>
          </p:nvPr>
        </p:nvSpPr>
        <p:spPr>
          <a:xfrm>
            <a:off y="2438400" x="1524000"/>
            <a:ext cy="3425825" cx="609600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48535"/>
            <a:ext cy="4191000" cx="464629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2248535"/>
            <a:ext cy="2540000" cx="4646295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18945"/>
            <a:ext cy="1143000" cx="570547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18945"/>
            <a:ext cy="2286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2786380"/>
            <a:ext cy="2667000" cx="35712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1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876935"/>
            <a:ext cy="4191000" cx="73901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923415"/>
            <a:ext cy="4191000" cx="529717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876935"/>
            <a:ext cy="2540000" cx="739013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1923415"/>
            <a:ext cy="2540000" cx="529717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648460"/>
            <a:ext cy="1143000" cx="584644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3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648460"/>
            <a:ext cy="1905000" cx="58464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4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67030"/>
            <a:ext cy="4191000" cx="8409940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5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367030"/>
            <a:ext cy="2540000" cx="8409940"/>
          </a:xfrm>
        </p:spPr>
      </p:sp>
      <p:sp>
        <p:nvSpPr>
          <p:cNvPr id="4" name="Table Placeholder 2"/>
          <p:cNvSpPr>
            <a:spLocks noGrp="1"/>
          </p:cNvSpPr>
          <p:nvPr>
            <p:ph idx="3" type="tbl"/>
          </p:nvPr>
        </p:nvSpPr>
        <p:spPr>
          <a:xfrm>
            <a:off y="4978400" x="1718945"/>
            <a:ext cy="1143000" cx="5705475"/>
          </a:xfrm>
        </p:spPr>
      </p:sp>
      <p:sp>
        <p:nvSpPr>
          <p:cNvPr id="5" name="Date Placeholder"/>
          <p:cNvSpPr>
            <a:spLocks noGrp="1"/>
          </p:cNvSpPr>
          <p:nvPr>
            <p:ph idx="4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6" name="Slide Number Placeholder"/>
          <p:cNvSpPr>
            <a:spLocks noGrp="1"/>
          </p:cNvSpPr>
          <p:nvPr>
            <p:ph idx="5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6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2438400" x="1718945"/>
            <a:ext cy="1905000" cx="570547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7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486410"/>
            <a:ext cy="4191000" cx="81705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8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r>
              <a:rPr lang="zh-CN" smtClean="0"/>
              <a:t>点击添加标题</a:t>
            </a:r>
            <a:endParaRPr lang="zh-CN"/>
          </a:p>
        </p:txBody>
      </p:sp>
      <p:sp>
        <p:nvSpPr>
          <p:cNvPr id="3" name="Table Placeholder 1"/>
          <p:cNvSpPr>
            <a:spLocks noGrp="1"/>
          </p:cNvSpPr>
          <p:nvPr>
            <p:ph idx="2" type="tbl"/>
          </p:nvPr>
        </p:nvSpPr>
        <p:spPr>
          <a:xfrm>
            <a:off y="1930400" x="486410"/>
            <a:ext cy="2540000" cx="8170545"/>
          </a:xfrm>
        </p:spPr>
      </p:sp>
      <p:sp>
        <p:nvSpPr>
          <p:cNvPr id="4" name="Date Placeholder"/>
          <p:cNvSpPr>
            <a:spLocks noGrp="1"/>
          </p:cNvSpPr>
          <p:nvPr>
            <p:ph idx="3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5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29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524000"/>
            <a:ext cy="4572000" cx="609600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0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524000"/>
            <a:ext cy="4572000" cx="609600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524000"/>
            <a:ext cy="4572000" cx="609600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布局 32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1524000"/>
            <a:ext cy="4572000" cx="6096000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smtClean="0"/>
              <a:t>Click to edit Master subtitle style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160204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209304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055246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18409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224204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8450131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4267219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smtClean="0"/>
              <a:t>Click to edit Master text styles</a:t>
            </a:r>
          </a:p>
          <a:p>
            <a:pPr lvl="1"/>
            <a:r>
              <a:rPr lang="zh-CN" smtClean="0"/>
              <a:t>Second level</a:t>
            </a:r>
          </a:p>
          <a:p>
            <a:pPr lvl="2"/>
            <a:r>
              <a:rPr lang="zh-CN" smtClean="0"/>
              <a:t>Third level</a:t>
            </a:r>
          </a:p>
          <a:p>
            <a:pPr lvl="3"/>
            <a:r>
              <a:rPr lang="zh-CN" smtClean="0"/>
              <a:t>Fourth level</a:t>
            </a:r>
          </a:p>
          <a:p>
            <a:pPr lvl="4"/>
            <a:r>
              <a:rPr lang="zh-CN" smtClean="0"/>
              <a:t>Fifth level</a:t>
            </a:r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76553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smtClean="0"/>
              <a:t>Click to edit Master title style</a:t>
            </a:r>
            <a:endParaRPr 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zh-CN" smtClean="0"/>
              <a:t>1/5/11</a:t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zh-CN" smtClean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9556148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slideLayout" Target="../slideLayouts/slideLayout2.xml"/>
   <Relationship Id="rId3" Type="http://schemas.openxmlformats.org/officeDocument/2006/relationships/slideLayout" Target="../slideLayouts/slideLayout3.xml"/>
   <Relationship Id="rId4" Type="http://schemas.openxmlformats.org/officeDocument/2006/relationships/slideLayout" Target="../slideLayouts/slideLayout4.xml"/>
   <Relationship Id="rId5" Type="http://schemas.openxmlformats.org/officeDocument/2006/relationships/slideLayout" Target="../slideLayouts/slideLayout5.xml"/>
   <Relationship Id="rId6" Type="http://schemas.openxmlformats.org/officeDocument/2006/relationships/slideLayout" Target="../slideLayouts/slideLayout6.xml"/>
   <Relationship Id="rId7" Type="http://schemas.openxmlformats.org/officeDocument/2006/relationships/slideLayout" Target="../slideLayouts/slideLayout7.xml"/>
   <Relationship Id="rId8" Type="http://schemas.openxmlformats.org/officeDocument/2006/relationships/slideLayout" Target="../slideLayouts/slideLayout8.xml"/>
   <Relationship Id="rId9" Type="http://schemas.openxmlformats.org/officeDocument/2006/relationships/slideLayout" Target="../slideLayouts/slideLayout9.xml"/>
   <Relationship Id="rId10" Type="http://schemas.openxmlformats.org/officeDocument/2006/relationships/slideLayout" Target="../slideLayouts/slideLayout10.xml"/>
   <Relationship Id="rId11" Type="http://schemas.openxmlformats.org/officeDocument/2006/relationships/slideLayout" Target="../slideLayouts/slideLayout11.xml"/>
   <Relationship Id="rId12" Type="http://schemas.openxmlformats.org/officeDocument/2006/relationships/slideLayout" Target="../slideLayouts/slideLayout12.xml"/>
   <Relationship Id="rId13" Type="http://schemas.openxmlformats.org/officeDocument/2006/relationships/slideLayout" Target="../slideLayouts/slideLayout13.xml"/>
   <Relationship Id="rId14" Type="http://schemas.openxmlformats.org/officeDocument/2006/relationships/slideLayout" Target="../slideLayouts/slideLayout14.xml"/>
   <Relationship Id="rId15" Type="http://schemas.openxmlformats.org/officeDocument/2006/relationships/slideLayout" Target="../slideLayouts/slideLayout15.xml"/>
   <Relationship Id="rId16" Type="http://schemas.openxmlformats.org/officeDocument/2006/relationships/slideLayout" Target="../slideLayouts/slideLayout16.xml"/>
   <Relationship Id="rId17" Type="http://schemas.openxmlformats.org/officeDocument/2006/relationships/slideLayout" Target="../slideLayouts/slideLayout17.xml"/>
   <Relationship Id="rId18" Type="http://schemas.openxmlformats.org/officeDocument/2006/relationships/slideLayout" Target="../slideLayouts/slideLayout18.xml"/>
   <Relationship Id="rId19" Type="http://schemas.openxmlformats.org/officeDocument/2006/relationships/slideLayout" Target="../slideLayouts/slideLayout19.xml"/>
   <Relationship Id="rId20" Type="http://schemas.openxmlformats.org/officeDocument/2006/relationships/slideLayout" Target="../slideLayouts/slideLayout20.xml"/>
   <Relationship Id="rId21" Type="http://schemas.openxmlformats.org/officeDocument/2006/relationships/slideLayout" Target="../slideLayouts/slideLayout21.xml"/>
   <Relationship Id="rId22" Type="http://schemas.openxmlformats.org/officeDocument/2006/relationships/slideLayout" Target="../slideLayouts/slideLayout22.xml"/>
   <Relationship Id="rId23" Type="http://schemas.openxmlformats.org/officeDocument/2006/relationships/slideLayout" Target="../slideLayouts/slideLayout23.xml"/>
   <Relationship Id="rId24" Type="http://schemas.openxmlformats.org/officeDocument/2006/relationships/slideLayout" Target="../slideLayouts/slideLayout24.xml"/>
   <Relationship Id="rId25" Type="http://schemas.openxmlformats.org/officeDocument/2006/relationships/slideLayout" Target="../slideLayouts/slideLayout25.xml"/>
   <Relationship Id="rId26" Type="http://schemas.openxmlformats.org/officeDocument/2006/relationships/slideLayout" Target="../slideLayouts/slideLayout26.xml"/>
   <Relationship Id="rId27" Type="http://schemas.openxmlformats.org/officeDocument/2006/relationships/slideLayout" Target="../slideLayouts/slideLayout27.xml"/>
   <Relationship Id="rId28" Type="http://schemas.openxmlformats.org/officeDocument/2006/relationships/slideLayout" Target="../slideLayouts/slideLayout28.xml"/>
   <Relationship Id="rId29" Type="http://schemas.openxmlformats.org/officeDocument/2006/relationships/slideLayout" Target="../slideLayouts/slideLayout29.xml"/>
   <Relationship Id="rId30" Type="http://schemas.openxmlformats.org/officeDocument/2006/relationships/slideLayout" Target="../slideLayouts/slideLayout30.xml"/>
   <Relationship Id="rId31" Type="http://schemas.openxmlformats.org/officeDocument/2006/relationships/slideLayout" Target="../slideLayouts/slideLayout31.xml"/>
   <Relationship Id="rId32" Type="http://schemas.openxmlformats.org/officeDocument/2006/relationships/slideLayout" Target="../slideLayouts/slideLayout32.xml"/>
   <Relationship Id="rId33" Type="http://schemas.openxmlformats.org/officeDocument/2006/relationships/theme" Target="../theme/theme1.xml"/>
   <Relationship Id="rId34" Type="http://schemas.openxmlformats.org/officeDocument/2006/relationships/slideLayout" Target="../slideLayouts/slideLayout33.xml"/>
   <Relationship Id="rId35" Type="http://schemas.openxmlformats.org/officeDocument/2006/relationships/slideLayout" Target="../slideLayouts/slideLayout34.xml"/>
   <Relationship Id="rId36" Type="http://schemas.openxmlformats.org/officeDocument/2006/relationships/slideLayout" Target="../slideLayouts/slideLayout35.xml"/>
   <Relationship Id="rId37" Type="http://schemas.openxmlformats.org/officeDocument/2006/relationships/slideLayout" Target="../slideLayouts/slideLayout36.xml"/>
   <Relationship Id="rId38" Type="http://schemas.openxmlformats.org/officeDocument/2006/relationships/slideLayout" Target="../slideLayouts/slideLayout37.xml"/>
   <Relationship Id="rId39" Type="http://schemas.openxmlformats.org/officeDocument/2006/relationships/slideLayout" Target="../slideLayouts/slideLayout38.xml"/>
   <Relationship Id="rId40" Type="http://schemas.openxmlformats.org/officeDocument/2006/relationships/slideLayout" Target="../slideLayouts/slideLayout39.xml"/>
   <Relationship Id="rId41" Type="http://schemas.openxmlformats.org/officeDocument/2006/relationships/slideLayout" Target="../slideLayouts/slideLayout40.xml"/>
   <Relationship Id="rId42" Type="http://schemas.openxmlformats.org/officeDocument/2006/relationships/slideLayout" Target="../slideLayouts/slideLayout41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2" name="Title Placeholder"/>
          <p:cNvSpPr>
            <a:spLocks noGrp="1"/>
          </p:cNvSpPr>
          <p:nvPr>
            <p:ph type="title"/>
          </p:nvPr>
        </p:nvSpPr>
        <p:spPr>
          <a:xfrm>
            <a:off y="228600" x="228600"/>
            <a:ext cy="1143000" cx="86868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/>
          <a:p>
            <a:r>
              <a:rPr lang="zh-CN" smtClean="0"/>
              <a:t>点击编辑主标题样式</a:t>
            </a:r>
            <a:endParaRPr lang="zh-CN"/>
          </a:p>
        </p:txBody>
      </p:sp>
      <p:sp>
        <p:nvSpPr>
          <p:cNvPr id="233" name="Text Placeholder 2"/>
          <p:cNvSpPr>
            <a:spLocks noGrp="1"/>
          </p:cNvSpPr>
          <p:nvPr>
            <p:ph idx="1" type="body"/>
          </p:nvPr>
        </p:nvSpPr>
        <p:spPr>
          <a:xfrm>
            <a:off y="1435100" x="228600"/>
            <a:ext cy="4765675" cx="8686800"/>
          </a:xfrm>
          <a:prstGeom prst="rect">
            <a:avLst/>
          </a:prstGeom>
        </p:spPr>
        <p:txBody>
          <a:bodyPr lIns="91440" rtlCol="0" vert="horz" bIns="45720" rIns="91440" tIns="45720">
            <a:normAutofit/>
          </a:bodyPr>
          <a:lstStyle/>
          <a:p>
            <a:pPr lvl="0"/>
            <a:r>
              <a:rPr lang="zh-CN" smtClean="0"/>
              <a:t>点击编辑主文本样式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  <a:endParaRPr lang="zh-CN"/>
          </a:p>
        </p:txBody>
      </p:sp>
      <p:sp>
        <p:nvSpPr>
          <p:cNvPr id="234" name="Date Placeholder"/>
          <p:cNvSpPr>
            <a:spLocks noGrp="1"/>
          </p:cNvSpPr>
          <p:nvPr>
            <p:ph idx="2" type="dt" sz="half"/>
          </p:nvPr>
        </p:nvSpPr>
        <p:spPr>
          <a:xfrm>
            <a:off y="6264275" x="2286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E6884-709E-A34F-91FF-D7B15FF765EB}" type="datetimeFigureOut">
              <a:rPr lang="zh-CN" smtClean="0"/>
              <a:pPr/>
              <a:t>12/02/25</a:t>
            </a:fld>
            <a:endParaRPr lang="zh-CN"/>
          </a:p>
        </p:txBody>
      </p:sp>
      <p:sp>
        <p:nvSpPr>
          <p:cNvPr id="235" name="Footer Placeholder"/>
          <p:cNvSpPr>
            <a:spLocks noGrp="1"/>
          </p:cNvSpPr>
          <p:nvPr>
            <p:ph idx="3" type="ftr" sz="quarter"/>
          </p:nvPr>
        </p:nvSpPr>
        <p:spPr>
          <a:xfrm>
            <a:off y="6264275" x="3124200"/>
            <a:ext cy="365125" cx="28956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236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264275" x="67818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985FE-4A9B-E943-BC5F-D07D97B0F7D6}" type="slidenum">
              <a:rPr lang="zh-CN" smtClean="0"/>
              <a:pPr/>
              <a:t>‹#›</a:t>
            </a:fld>
            <a:endParaRPr lang="zh-CN"/>
          </a:p>
        </p:txBody>
      </p:sp>
    </p:spTree>
  </p:cSld>
  <p:clrMap bg1="lt1" tx2="dk2" hlink="hlink" accent3="accent3" accent6="accent6" accent5="accent5" tx1="dk1" bg2="lt2" folHlink="folHlink" accent2="accent2" accent4="accent4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</p:sldLayoutIdLst>
  <p:hf hdr="0"/>
  <p:txStyles>
    <p:titleStyle>
      <a:lvl1pPr algn="ctr" eaLnBrk="1" rtl="0" defTabSz="914400" latinLnBrk="0" hangingPunct="1">
        <a:spcBef>
          <a:spcPct val="0"/>
        </a:spcBef>
        <a:buNone/>
        <a:defRPr kern="1200" sz="4200">
          <a:solidFill>
            <a:schemeClr val="tx1"/>
          </a:solidFill>
          <a:latin typeface="+mj-lt"/>
          <a:ea typeface="+mj-ea"/>
        </a:defRPr>
      </a:lvl1pPr>
      <a:lvl2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2pPr>
      <a:lvl3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3pPr>
      <a:lvl4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4pPr>
      <a:lvl5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  <a:ea typeface="+mj-ea" charset="0"/>
        </a:defRPr>
      </a:lvl9pPr>
    </p:titleStyle>
    <p:bodyStyle>
      <a:lvl1pPr algn="l" indent="-342900" latinLnBrk="0" eaLnBrk="1" rtl="0" defTabSz="914400" marL="342900" hangingPunct="1">
        <a:spcBef>
          <a:spcPct val="20000"/>
        </a:spcBef>
        <a:buFont typeface="Arial" pitchFamily="34" charset="0"/>
        <a:buChar char="•"/>
        <a:defRPr kern="1200" sz="3200">
          <a:solidFill>
            <a:schemeClr val="tx1"/>
          </a:solidFill>
          <a:latin typeface="+mn-lt"/>
          <a:ea typeface="+mn-ea"/>
        </a:defRPr>
      </a:lvl1pPr>
      <a:lvl2pPr algn="l" indent="-285750" latinLnBrk="0" eaLnBrk="1" rtl="0" defTabSz="914400" marL="742950" hangingPunct="1">
        <a:spcBef>
          <a:spcPct val="20000"/>
        </a:spcBef>
        <a:buFont typeface="Arial" pitchFamily="34" charset="0"/>
        <a:buChar char="–"/>
        <a:defRPr kern="1200" sz="2800">
          <a:solidFill>
            <a:schemeClr val="tx1"/>
          </a:solidFill>
          <a:latin typeface="+mn-lt"/>
          <a:ea typeface="+mn-ea"/>
        </a:defRPr>
      </a:lvl2pPr>
      <a:lvl3pPr algn="l" indent="-228600" latinLnBrk="0" eaLnBrk="1" rtl="0" defTabSz="914400" marL="1143000" hangingPunct="1">
        <a:spcBef>
          <a:spcPct val="20000"/>
        </a:spcBef>
        <a:buFont typeface="Arial" pitchFamily="34" charset="0"/>
        <a:buChar char="•"/>
        <a:defRPr kern="1200" sz="2400">
          <a:solidFill>
            <a:schemeClr val="tx1"/>
          </a:solidFill>
          <a:latin typeface="+mn-lt"/>
          <a:ea typeface="+mn-ea"/>
        </a:defRPr>
      </a:lvl3pPr>
      <a:lvl4pPr algn="l" indent="-228600" latinLnBrk="0" eaLnBrk="1" rtl="0" defTabSz="914400" marL="1600200" hangingPunct="1">
        <a:spcBef>
          <a:spcPct val="20000"/>
        </a:spcBef>
        <a:buFont typeface="Arial" pitchFamily="34" charset="0"/>
        <a:buChar char="–"/>
        <a:defRPr kern="1200" sz="2000">
          <a:solidFill>
            <a:schemeClr val="tx1"/>
          </a:solidFill>
          <a:latin typeface="+mn-lt"/>
          <a:ea typeface="+mn-ea"/>
        </a:defRPr>
      </a:lvl4pPr>
      <a:lvl5pPr algn="l" indent="-228600" latinLnBrk="0" eaLnBrk="1" rtl="0" defTabSz="914400" marL="2057400" hangingPunct="1">
        <a:spcBef>
          <a:spcPct val="20000"/>
        </a:spcBef>
        <a:buFont typeface="Arial" pitchFamily="34" charset="0"/>
        <a:buChar char="»"/>
        <a:defRPr kern="1200" sz="2000">
          <a:solidFill>
            <a:schemeClr val="tx1"/>
          </a:solidFill>
          <a:latin typeface="+mn-lt"/>
          <a:ea typeface="+mn-ea"/>
        </a:defRPr>
      </a:lvl5pPr>
      <a:lvl6pPr algn="l" indent="-228600" latinLnBrk="0" eaLnBrk="1" rtl="0" defTabSz="914400" marL="25146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6pPr>
      <a:lvl7pPr algn="l" indent="-228600" latinLnBrk="0" eaLnBrk="1" rtl="0" defTabSz="914400" marL="29718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7pPr>
      <a:lvl8pPr algn="l" indent="-228600" latinLnBrk="0" eaLnBrk="1" rtl="0" defTabSz="914400" marL="34290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8pPr>
      <a:lvl9pPr algn="l" indent="-228600" latinLnBrk="0" eaLnBrk="1" rtl="0" defTabSz="914400" marL="38862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algn="l" latinLnBrk="0" eaLnBrk="1" rtl="0" defTabSz="914400" marL="0" hangingPunct="1">
        <a:defRPr kern="1200" sz="1800">
          <a:solidFill>
            <a:schemeClr val="tx1"/>
          </a:solidFill>
          <a:latin typeface="+mn-lt"/>
          <a:ea typeface="+mn-ea"/>
        </a:defRPr>
      </a:lvl1pPr>
      <a:lvl2pPr algn="l" latinLnBrk="0" eaLnBrk="1" rtl="0" defTabSz="914400" marL="457200" hangingPunct="1">
        <a:defRPr kern="1200" sz="1800">
          <a:solidFill>
            <a:schemeClr val="tx1"/>
          </a:solidFill>
          <a:latin typeface="+mn-lt"/>
          <a:ea typeface="+mn-ea"/>
        </a:defRPr>
      </a:lvl2pPr>
      <a:lvl3pPr algn="l" latinLnBrk="0" eaLnBrk="1" rtl="0" defTabSz="914400" marL="914400" hangingPunct="1">
        <a:defRPr kern="1200" sz="1800">
          <a:solidFill>
            <a:schemeClr val="tx1"/>
          </a:solidFill>
          <a:latin typeface="+mn-lt"/>
          <a:ea typeface="+mn-ea"/>
        </a:defRPr>
      </a:lvl3pPr>
      <a:lvl4pPr algn="l" latinLnBrk="0" eaLnBrk="1" rtl="0" defTabSz="914400" marL="1371600" hangingPunct="1">
        <a:defRPr kern="1200" sz="1800">
          <a:solidFill>
            <a:schemeClr val="tx1"/>
          </a:solidFill>
          <a:latin typeface="+mn-lt"/>
          <a:ea typeface="+mn-ea"/>
        </a:defRPr>
      </a:lvl4pPr>
      <a:lvl5pPr algn="l" latinLnBrk="0" eaLnBrk="1" rtl="0" defTabSz="914400" marL="1828800" hangingPunct="1">
        <a:defRPr kern="1200" sz="1800">
          <a:solidFill>
            <a:schemeClr val="tx1"/>
          </a:solidFill>
          <a:latin typeface="+mn-lt"/>
          <a:ea typeface="+mn-ea"/>
        </a:defRPr>
      </a:lvl5pPr>
      <a:lvl6pPr algn="l" latinLnBrk="0" eaLnBrk="1" rtl="0" defTabSz="914400" marL="2286000" hangingPunct="1">
        <a:defRPr kern="1200" sz="1800">
          <a:solidFill>
            <a:schemeClr val="tx1"/>
          </a:solidFill>
          <a:latin typeface="+mn-lt"/>
          <a:ea typeface="+mn-ea"/>
        </a:defRPr>
      </a:lvl6pPr>
      <a:lvl7pPr algn="l" latinLnBrk="0" eaLnBrk="1" rtl="0" defTabSz="914400" marL="2743200" hangingPunct="1">
        <a:defRPr kern="1200" sz="1800">
          <a:solidFill>
            <a:schemeClr val="tx1"/>
          </a:solidFill>
          <a:latin typeface="+mn-lt"/>
          <a:ea typeface="+mn-ea"/>
        </a:defRPr>
      </a:lvl7pPr>
      <a:lvl8pPr algn="l" latinLnBrk="0" eaLnBrk="1" rtl="0" defTabSz="914400" marL="3200400" hangingPunct="1">
        <a:defRPr kern="1200" sz="1800">
          <a:solidFill>
            <a:schemeClr val="tx1"/>
          </a:solidFill>
          <a:latin typeface="+mn-lt"/>
          <a:ea typeface="+mn-ea"/>
        </a:defRPr>
      </a:lvl8pPr>
      <a:lvl9pPr algn="l" latinLnBrk="0" eaLnBrk="1" rtl="0" defTabSz="914400" marL="3657600" hangingPunct="1">
        <a:defRPr kern="1200" sz="180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.xml"/>
</Relationships>

</file>

<file path=ppt/slides/_rels/slide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4.xml"/>
</Relationships>

</file>

<file path=ppt/slides/_rels/slide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5.xml"/>
</Relationships>

</file>

<file path=ppt/slides/_rels/slide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6.xml"/>
</Relationships>

</file>

<file path=ppt/slides/_rels/slide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7.xml"/>
   <Relationship Id="rId2" Type="http://schemas.openxmlformats.org/officeDocument/2006/relationships/image" Target="../media/SummaryPanel4.png"/>
</Relationships>

</file>

<file path=ppt/slides/_rels/slide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8.xml"/>
   <Relationship Id="rId2" Type="http://schemas.openxmlformats.org/officeDocument/2006/relationships/image" Target="../media/QQPlot4.png"/>
</Relationships>

</file>

<file path=ppt/slides/_rels/slide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9.xml"/>
</Relationships>

</file>

<file path=ppt/slides/_rels/slide1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0.xml"/>
</Relationships>

</file>

<file path=ppt/slides/_rels/slide1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1.xml"/>
</Relationships>

</file>

<file path=ppt/slides/_rels/slide1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2.xml"/>
</Relationships>

</file>

<file path=ppt/slides/_rels/slide1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3.xml"/>
   <Relationship Id="rId2" Type="http://schemas.openxmlformats.org/officeDocument/2006/relationships/image" Target="../media/SummaryPanel5.png"/>
</Relationships>

</file>

<file path=ppt/slides/_rels/slide1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4.xml"/>
   <Relationship Id="rId2" Type="http://schemas.openxmlformats.org/officeDocument/2006/relationships/image" Target="../media/QQPlot5.png"/>
</Relationships>

</file>

<file path=ppt/slides/_rels/slide1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5.xml"/>
</Relationships>

</file>

<file path=ppt/slides/_rels/slide1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6.xml"/>
</Relationships>

</file>

<file path=ppt/slides/_rels/slide1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7.xml"/>
</Relationships>

</file>

<file path=ppt/slides/_rels/slide1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8.xml"/>
</Relationships>

</file>

<file path=ppt/slides/_rels/slide1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9.xml"/>
</Relationships>

</file>

<file path=ppt/slides/_rels/slide2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0.xml"/>
</Relationships>

</file>

<file path=ppt/slides/_rels/slide2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1.xml"/>
</Relationships>

</file>

<file path=ppt/slides/_rels/slide2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2.xml"/>
</Relationships>

</file>

<file path=ppt/slides/_rels/slide23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3.xml"/>
</Relationships>

</file>

<file path=ppt/slides/_rels/slide24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4.xml"/>
</Relationships>

</file>

<file path=ppt/slides/_rels/slide25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5.xml"/>
</Relationships>

</file>

<file path=ppt/slides/_rels/slide26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6.xml"/>
</Relationships>

</file>

<file path=ppt/slides/_rels/slide27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7.xml"/>
</Relationships>

</file>

<file path=ppt/slides/_rels/slide28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8.xml"/>
</Relationships>

</file>

<file path=ppt/slides/_rels/slide29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29.xml"/>
   <Relationship Id="rId2" Type="http://schemas.openxmlformats.org/officeDocument/2006/relationships/image" Target="../media/SGPlot8.png"/>
</Relationships>

</file>

<file path=ppt/slides/_rels/slide30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0.xml"/>
   <Relationship Id="rId2" Type="http://schemas.openxmlformats.org/officeDocument/2006/relationships/image" Target="../media/SGPlot9.png"/>
</Relationships>

</file>

<file path=ppt/slides/_rels/slide3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1.xml"/>
   <Relationship Id="rId2" Type="http://schemas.openxmlformats.org/officeDocument/2006/relationships/image" Target="../media/SGPlot10.png"/>
</Relationships>

</file>

<file path=ppt/slides/_rels/slide32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32.xml"/>
   <Relationship Id="rId2" Type="http://schemas.openxmlformats.org/officeDocument/2006/relationships/image" Target="../media/SGPlot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6" name="Table 1"/>
          <p:cNvGraphicFramePr>
            <a:graphicFrameLocks noGrp="1"/>
          </p:cNvGraphicFramePr>
          <p:nvPr>
            <p:ph type="tbl" idx="2"/>
          </p:nvPr>
        </p:nvGraphicFramePr>
        <p:xfrm>
          <a:off x="989330" y="2971800"/>
          <a:ext cy="1905000" cx="716534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1671320"/>
                <a:gridCol w="754380"/>
                <a:gridCol w="1050290"/>
                <a:gridCol w="965835"/>
                <a:gridCol w="12065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数目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5.4761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1.1261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5.7663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1.1945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-0.2903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1.1606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-0.2903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0.0347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1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" name="Table 2"/>
          <p:cNvGraphicFramePr>
            <a:graphicFrameLocks noGrp="1"/>
          </p:cNvGraphicFramePr>
          <p:nvPr>
            <p:ph type="tbl" idx="2"/>
          </p:nvPr>
        </p:nvGraphicFramePr>
        <p:xfrm>
          <a:off x="1941195" y="2971800"/>
          <a:ext cy="1905000" cx="526097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1671320"/>
                <a:gridCol w="965835"/>
                <a:gridCol w="110680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最小值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最大值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2.9760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11.9040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2.9720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11.9440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9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2" name="Table 3"/>
          <p:cNvGraphicFramePr>
            <a:graphicFrameLocks noGrp="1"/>
          </p:cNvGraphicFramePr>
          <p:nvPr>
            <p:ph type="tbl" idx="2"/>
          </p:nvPr>
        </p:nvGraphicFramePr>
        <p:xfrm>
          <a:off x="886460" y="2971800"/>
          <a:ext cy="1905000" cx="737044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1671320"/>
                <a:gridCol w="1050290"/>
                <a:gridCol w="1083310"/>
                <a:gridCol w="108267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5.4761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5.4295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5.5227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1.1261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5.7663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5.7166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5.8160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1.1945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-0.2903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-0.3584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-0.2222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1.1606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-0.2903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-0.3584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-0.2221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7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8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9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0" name="Table 4"/>
          <p:cNvGraphicFramePr>
            <a:graphicFrameLocks noGrp="1"/>
          </p:cNvGraphicFramePr>
          <p:nvPr>
            <p:ph type="tbl" idx="2"/>
          </p:nvPr>
        </p:nvGraphicFramePr>
        <p:xfrm>
          <a:off x="1767840" y="2971800"/>
          <a:ext cy="1905000" cx="560832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1671320"/>
                <a:gridCol w="1210310"/>
                <a:gridCol w="120967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1.0941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1.1601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1.1604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1.2307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1.1371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1.1852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2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35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7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38" name="Table 5"/>
          <p:cNvGraphicFramePr>
            <a:graphicFrameLocks noGrp="1"/>
          </p:cNvGraphicFramePr>
          <p:nvPr>
            <p:ph type="tbl" idx="2"/>
          </p:nvPr>
        </p:nvGraphicFramePr>
        <p:xfrm>
          <a:off x="1906270" y="2971800"/>
          <a:ext cy="1143000" cx="533146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671320"/>
                <a:gridCol w="952500"/>
                <a:gridCol w="965835"/>
                <a:gridCol w="768350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t 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|t|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-8.36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不等于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4441.8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-8.35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43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4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5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46" name="Table 6"/>
          <p:cNvGraphicFramePr>
            <a:graphicFrameLocks noGrp="1"/>
          </p:cNvGraphicFramePr>
          <p:nvPr>
            <p:ph type="tbl" idx="2"/>
          </p:nvPr>
        </p:nvGraphicFramePr>
        <p:xfrm>
          <a:off x="1697355" y="2971800"/>
          <a:ext cy="1143000" cx="574865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177925"/>
                <a:gridCol w="1460500"/>
                <a:gridCol w="1460500"/>
                <a:gridCol w="683895"/>
                <a:gridCol w="96583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方差齐性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分子自由度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分母自由度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 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F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折叠的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1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2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3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54" title="“BMI”的汇总面板" name="SummaryPanel4.png" descr="“BMI”的汇总面板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971800" x="2338070"/>
            <a:ext cy="3352800" cx="4467860"/>
          </a:xfrm>
          <a:prstGeom prst="rect">
            <a:avLst/>
          </a:prstGeom>
        </p:spPr>
      </p:pic>
      <p:sp>
        <p:nvSpPr>
          <p:cNvPr id="5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7272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mean difference analysis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between Diseased and non-disease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59" name="Proc Title 1"/>
          <p:cNvSpPr txBox="1">
            <a:spLocks noGrp="1"/>
          </p:cNvSpPr>
          <p:nvPr/>
        </p:nvSpPr>
        <p:spPr>
          <a:xfrm>
            <a:off y="2019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0" name="Proc Title 2"/>
          <p:cNvSpPr txBox="1">
            <a:spLocks noGrp="1"/>
          </p:cNvSpPr>
          <p:nvPr/>
        </p:nvSpPr>
        <p:spPr>
          <a:xfrm>
            <a:off y="24003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1" name="Proc Title 3"/>
          <p:cNvSpPr txBox="1">
            <a:spLocks noGrp="1"/>
          </p:cNvSpPr>
          <p:nvPr/>
        </p:nvSpPr>
        <p:spPr>
          <a:xfrm>
            <a:off y="25273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62" title="“BMI”的 Q-Q 图" name="QQPlot4.png" descr="“BMI”的 Q-Q 图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971800" x="1591310"/>
            <a:ext cy="3352800" cx="5961380"/>
          </a:xfrm>
          <a:prstGeom prst="rect">
            <a:avLst/>
          </a:prstGeom>
        </p:spPr>
      </p:pic>
      <p:sp>
        <p:nvSpPr>
          <p:cNvPr id="6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6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8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9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70" name="Table 7"/>
          <p:cNvGraphicFramePr>
            <a:graphicFrameLocks noGrp="1"/>
          </p:cNvGraphicFramePr>
          <p:nvPr>
            <p:ph type="tbl" idx="2"/>
          </p:nvPr>
        </p:nvGraphicFramePr>
        <p:xfrm>
          <a:off x="1151255" y="2438400"/>
          <a:ext cy="1905000" cx="684149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277620"/>
                <a:gridCol w="1671320"/>
                <a:gridCol w="754380"/>
                <a:gridCol w="965835"/>
                <a:gridCol w="965835"/>
                <a:gridCol w="12065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数目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标准误差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5.6609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1.1131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5.5667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1.2389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0.0283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1.1687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0.0353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0.0359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Table 8"/>
          <p:cNvGraphicFramePr>
            <a:graphicFrameLocks noGrp="1"/>
          </p:cNvGraphicFramePr>
          <p:nvPr>
            <p:ph type="tbl" idx="3"/>
          </p:nvPr>
        </p:nvGraphicFramePr>
        <p:xfrm>
          <a:off x="2061210" y="4406900"/>
          <a:ext cy="1905000" cx="502158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277620"/>
                <a:gridCol w="1671320"/>
                <a:gridCol w="965835"/>
                <a:gridCol w="110680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最小值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最大值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3.0680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11.9040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2.9720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11.9440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2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3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7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7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8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79" name="Table 9"/>
          <p:cNvGraphicFramePr>
            <a:graphicFrameLocks noGrp="1"/>
          </p:cNvGraphicFramePr>
          <p:nvPr>
            <p:ph type="tbl" idx="2"/>
          </p:nvPr>
        </p:nvGraphicFramePr>
        <p:xfrm>
          <a:off x="1048385" y="2438400"/>
          <a:ext cy="1905000" cx="704659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277620"/>
                <a:gridCol w="1671320"/>
                <a:gridCol w="965835"/>
                <a:gridCol w="1083310"/>
                <a:gridCol w="108267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置信限均值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5.6609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5.6177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5.7041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1.1131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5.5667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5.5111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5.6222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1.2389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1.1687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0.0943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0.0239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0.1646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Table 10"/>
          <p:cNvGraphicFramePr>
            <a:graphicFrameLocks noGrp="1"/>
          </p:cNvGraphicFramePr>
          <p:nvPr>
            <p:ph type="tbl" idx="3"/>
          </p:nvPr>
        </p:nvGraphicFramePr>
        <p:xfrm>
          <a:off x="1887220" y="4406900"/>
          <a:ext cy="1905000" cx="536892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277620"/>
                <a:gridCol w="1671320"/>
                <a:gridCol w="1210310"/>
                <a:gridCol w="120967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95% 置信限标准差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1.0834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1.1445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1.2009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1.2794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1.1450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1.1935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差 (1-2)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1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2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3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4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85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6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7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88" name="Table 11"/>
          <p:cNvGraphicFramePr>
            <a:graphicFrameLocks noGrp="1"/>
          </p:cNvGraphicFramePr>
          <p:nvPr>
            <p:ph type="tbl" idx="2"/>
          </p:nvPr>
        </p:nvGraphicFramePr>
        <p:xfrm>
          <a:off x="1951990" y="2438400"/>
          <a:ext cy="1143000" cx="523938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671320"/>
                <a:gridCol w="952500"/>
                <a:gridCol w="965835"/>
                <a:gridCol w="683895"/>
                <a:gridCol w="96583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方差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t 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|t|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汇总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0.0077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Satterthwaite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不等于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3872.4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2.63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0.0086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9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4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5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96" name="Table 12"/>
          <p:cNvGraphicFramePr>
            <a:graphicFrameLocks noGrp="1"/>
          </p:cNvGraphicFramePr>
          <p:nvPr>
            <p:ph type="tbl" idx="2"/>
          </p:nvPr>
        </p:nvGraphicFramePr>
        <p:xfrm>
          <a:off x="1693545" y="2438400"/>
          <a:ext cy="1143000" cx="575627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177925"/>
                <a:gridCol w="1460500"/>
                <a:gridCol w="1460500"/>
                <a:gridCol w="683895"/>
                <a:gridCol w="973455"/>
              </a:tblGrid>
              <a:tr h="381000"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方差齐性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方法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分子自由度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分母自由度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 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Pr &gt; F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折叠的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7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8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0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2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3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04" title="“BMI”的汇总面板" name="SummaryPanel5.png" descr="“BMI”的汇总面板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438400" x="1981200"/>
            <a:ext cy="3883025" cx="5181600"/>
          </a:xfrm>
          <a:prstGeom prst="rect">
            <a:avLst/>
          </a:prstGeom>
        </p:spPr>
      </p:pic>
      <p:sp>
        <p:nvSpPr>
          <p:cNvPr id="10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0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0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BMI difference between Male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and Female samples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0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TTEST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0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1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变量:   BMI  (BMI)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12" title="“BMI”的 Q-Q 图" name="QQPlot5.png" descr="“BMI”的 Q-Q 图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438400" x="1524000"/>
            <a:ext cy="3425825" cx="6096000"/>
          </a:xfrm>
          <a:prstGeom prst="rect">
            <a:avLst/>
          </a:prstGeom>
        </p:spPr>
      </p:pic>
      <p:sp>
        <p:nvSpPr>
          <p:cNvPr id="113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14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1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18" name="Table 13"/>
          <p:cNvGraphicFramePr>
            <a:graphicFrameLocks noGrp="1"/>
          </p:cNvGraphicFramePr>
          <p:nvPr>
            <p:ph type="tbl" idx="2"/>
          </p:nvPr>
        </p:nvGraphicFramePr>
        <p:xfrm>
          <a:off x="2248535" y="1930400"/>
          <a:ext cy="4191000" cx="464629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830580"/>
                <a:gridCol w="103632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HavingCVD-GENDER表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1189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26.63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52.99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46.65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1055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23.63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47.01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55.06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1360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30.46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61.23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53.35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19.28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38.77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44.94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2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4" name="Table 14"/>
          <p:cNvGraphicFramePr>
            <a:graphicFrameLocks noGrp="1"/>
          </p:cNvGraphicFramePr>
          <p:nvPr>
            <p:ph type="tbl" idx="2"/>
          </p:nvPr>
        </p:nvGraphicFramePr>
        <p:xfrm>
          <a:off x="2248535" y="1930400"/>
          <a:ext cy="2540000" cx="464629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830580"/>
                <a:gridCol w="1036320"/>
                <a:gridCol w="1262380"/>
              </a:tblGrid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HavingCVD-GENDER表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57.09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5" name="Proc Note 1"/>
          <p:cNvSpPr txBox="1">
            <a:spLocks noGrp="1"/>
          </p:cNvSpPr>
          <p:nvPr/>
        </p:nvSpPr>
        <p:spPr>
          <a:xfrm>
            <a:off y="4533900" x="2338705"/>
            <a:ext cy="381000" cx="446659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表“GENDER-HavingCVD”的统计量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26" name="Table 15"/>
          <p:cNvGraphicFramePr>
            <a:graphicFrameLocks noGrp="1"/>
          </p:cNvGraphicFramePr>
          <p:nvPr>
            <p:ph type="tbl" idx="3"/>
          </p:nvPr>
        </p:nvGraphicFramePr>
        <p:xfrm>
          <a:off x="1718945" y="4978400"/>
          <a:ext cy="1143000" cx="570547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30.9969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31.0384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7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8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9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0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31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2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3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表“GENDER-HavingCVD”的统计量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34" name="Table 16"/>
          <p:cNvGraphicFramePr>
            <a:graphicFrameLocks noGrp="1"/>
          </p:cNvGraphicFramePr>
          <p:nvPr>
            <p:ph type="tbl" idx="2"/>
          </p:nvPr>
        </p:nvGraphicFramePr>
        <p:xfrm>
          <a:off x="1718945" y="2438400"/>
          <a:ext cy="2286000" cx="570547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连续调整卡方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30.6611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30.9900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-0.0833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0.0830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-0.0833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3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0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1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表“GENDER-HavingCVD”的统计量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2" name="Table 17"/>
          <p:cNvGraphicFramePr>
            <a:graphicFrameLocks noGrp="1"/>
          </p:cNvGraphicFramePr>
          <p:nvPr>
            <p:ph type="tbl" idx="2"/>
          </p:nvPr>
        </p:nvGraphicFramePr>
        <p:xfrm>
          <a:off x="2786380" y="2438400"/>
          <a:ext cy="2667000" cx="357124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2517140"/>
                <a:gridCol w="1054100"/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Fisher 精确检验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单元格 (1,1) 频数 (F)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左侧 Pr &lt;=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右侧 Pr &gt;= F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1.0000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表概率 (P)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双侧 Pr &lt;= P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3" name="Proc Note 1"/>
          <p:cNvSpPr txBox="1">
            <a:spLocks noGrp="1"/>
          </p:cNvSpPr>
          <p:nvPr/>
        </p:nvSpPr>
        <p:spPr>
          <a:xfrm>
            <a:off y="5168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4465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4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4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7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48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49" name="Table 18"/>
          <p:cNvGraphicFramePr>
            <a:graphicFrameLocks noGrp="1"/>
          </p:cNvGraphicFramePr>
          <p:nvPr>
            <p:ph type="tbl" idx="2"/>
          </p:nvPr>
        </p:nvGraphicFramePr>
        <p:xfrm>
          <a:off x="876935" y="1930400"/>
          <a:ext cy="4191000" cx="739013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840105"/>
                <a:gridCol w="838835"/>
                <a:gridCol w="838835"/>
                <a:gridCol w="838835"/>
                <a:gridCol w="838835"/>
                <a:gridCol w="838835"/>
                <a:gridCol w="838835"/>
              </a:tblGrid>
              <a:tr h="381000"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9.56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19.03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89.52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5.67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11.27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75.07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5.13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60.90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329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14.66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5.33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10.61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38.39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154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6.86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38.69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1.12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2.25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10.48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1.88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3.78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6.62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39.10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11.03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6.88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13.82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8.56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61.61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10.99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61.31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0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1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19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5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55" name="Table 19"/>
          <p:cNvGraphicFramePr>
            <a:graphicFrameLocks noGrp="1"/>
          </p:cNvGraphicFramePr>
          <p:nvPr>
            <p:ph type="tbl" idx="2"/>
          </p:nvPr>
        </p:nvGraphicFramePr>
        <p:xfrm>
          <a:off x="1923415" y="1930400"/>
          <a:ext cy="4191000" cx="529717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838835"/>
                <a:gridCol w="838835"/>
                <a:gridCol w="840105"/>
                <a:gridCol w="1262380"/>
              </a:tblGrid>
              <a:tr h="381000"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36.95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1.75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3.48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25.16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2.08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24.54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5.46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10.99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63.05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232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5.20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10.45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74.84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286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6.41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12.88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75.46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6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57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59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60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1" name="Table 20"/>
          <p:cNvGraphicFramePr>
            <a:graphicFrameLocks noGrp="1"/>
          </p:cNvGraphicFramePr>
          <p:nvPr>
            <p:ph type="tbl" idx="2"/>
          </p:nvPr>
        </p:nvGraphicFramePr>
        <p:xfrm>
          <a:off x="876935" y="1930400"/>
          <a:ext cy="2540000" cx="739013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840105"/>
                <a:gridCol w="838835"/>
                <a:gridCol w="838835"/>
                <a:gridCol w="838835"/>
                <a:gridCol w="838835"/>
                <a:gridCol w="838835"/>
                <a:gridCol w="838835"/>
              </a:tblGrid>
              <a:tr h="381000">
                <a:tc gridSpan="8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&lt;= 40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41-45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46-50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51-55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56-60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61-65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66-70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477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10.68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337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7.55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12.86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13.59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13.89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8.91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6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6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6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6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7" name="Table 21"/>
          <p:cNvGraphicFramePr>
            <a:graphicFrameLocks noGrp="1"/>
          </p:cNvGraphicFramePr>
          <p:nvPr>
            <p:ph type="tbl" idx="2"/>
          </p:nvPr>
        </p:nvGraphicFramePr>
        <p:xfrm>
          <a:off x="1923415" y="1930400"/>
          <a:ext cy="2540000" cx="529717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838835"/>
                <a:gridCol w="838835"/>
                <a:gridCol w="840105"/>
                <a:gridCol w="1262380"/>
              </a:tblGrid>
              <a:tr h="381000">
                <a:tc gridSpan="12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HavingCVD-Age_Range表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Age_Range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71-75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76-80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&gt;= 80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6.94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379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8.49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8" name="Proc Note 1"/>
          <p:cNvSpPr txBox="1">
            <a:spLocks noGrp="1"/>
          </p:cNvSpPr>
          <p:nvPr/>
        </p:nvSpPr>
        <p:spPr>
          <a:xfrm>
            <a:off y="4533900" x="2212340"/>
            <a:ext cy="381000" cx="471932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表“Age_Range-HavingCVD”的统计量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69" name="Table 22"/>
          <p:cNvGraphicFramePr>
            <a:graphicFrameLocks noGrp="1"/>
          </p:cNvGraphicFramePr>
          <p:nvPr>
            <p:ph type="tbl" idx="3"/>
          </p:nvPr>
        </p:nvGraphicFramePr>
        <p:xfrm>
          <a:off x="1648460" y="4978400"/>
          <a:ext cy="1143000" cx="584644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2672715"/>
                <a:gridCol w="952500"/>
                <a:gridCol w="124777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667.8124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9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724.1932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0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1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72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3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74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5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6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表“Age_Range-HavingCVD”的统计量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77" name="Table 23"/>
          <p:cNvGraphicFramePr>
            <a:graphicFrameLocks noGrp="1"/>
          </p:cNvGraphicFramePr>
          <p:nvPr>
            <p:ph type="tbl" idx="2"/>
          </p:nvPr>
        </p:nvGraphicFramePr>
        <p:xfrm>
          <a:off x="1648460" y="2438400"/>
          <a:ext cy="1905000" cx="584644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2672715"/>
                <a:gridCol w="952500"/>
                <a:gridCol w="124777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619.1073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0.3867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0.3607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0.3867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8" name="Proc Note 1"/>
          <p:cNvSpPr txBox="1">
            <a:spLocks noGrp="1"/>
          </p:cNvSpPr>
          <p:nvPr/>
        </p:nvSpPr>
        <p:spPr>
          <a:xfrm>
            <a:off y="4406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4465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79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0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23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8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2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83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84" name="Table 24"/>
          <p:cNvGraphicFramePr>
            <a:graphicFrameLocks noGrp="1"/>
          </p:cNvGraphicFramePr>
          <p:nvPr>
            <p:ph type="tbl" idx="2"/>
          </p:nvPr>
        </p:nvGraphicFramePr>
        <p:xfrm>
          <a:off x="367030" y="1930400"/>
          <a:ext cy="4191000" cx="840994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No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622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13.93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27.72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60.92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16.62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33.07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51.24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842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18.86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37.52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43.58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2244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50.26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Yes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1.17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399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8.94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17.96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39.08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706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15.81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31.79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48.76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1090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24.41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49.08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56.42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2221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49.74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5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6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24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87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8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89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90" name="Table 25"/>
          <p:cNvGraphicFramePr>
            <a:graphicFrameLocks noGrp="1"/>
          </p:cNvGraphicFramePr>
          <p:nvPr>
            <p:ph type="tbl" idx="2"/>
          </p:nvPr>
        </p:nvGraphicFramePr>
        <p:xfrm>
          <a:off x="367030" y="1930400"/>
          <a:ext cy="2540000" cx="8409940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517015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HavingCVD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22.87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1932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1" name="Proc Note 1"/>
          <p:cNvSpPr txBox="1">
            <a:spLocks noGrp="1"/>
          </p:cNvSpPr>
          <p:nvPr/>
        </p:nvSpPr>
        <p:spPr>
          <a:xfrm>
            <a:off y="4533900" x="2268220"/>
            <a:ext cy="381000" cx="4606925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表“BMI_Class-HavingCVD”的统计量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192" name="Table 26"/>
          <p:cNvGraphicFramePr>
            <a:graphicFrameLocks noGrp="1"/>
          </p:cNvGraphicFramePr>
          <p:nvPr>
            <p:ph type="tbl" idx="3"/>
          </p:nvPr>
        </p:nvGraphicFramePr>
        <p:xfrm>
          <a:off x="1718945" y="4978400"/>
          <a:ext cy="1143000" cx="570547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83.5693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似然比卡方检验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84.0634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3" name="Date Placeholder 1"/>
          <p:cNvSpPr>
            <a:spLocks noGrp="1"/>
          </p:cNvSpPr>
          <p:nvPr>
            <p:ph idx="4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4" name="Slide Number Placeholder 1"/>
          <p:cNvSpPr>
            <a:spLocks noGrp="1"/>
          </p:cNvSpPr>
          <p:nvPr>
            <p:ph idx="5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95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96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197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8" name="Proc Title 2"/>
          <p:cNvSpPr txBox="1">
            <a:spLocks noGrp="1"/>
          </p:cNvSpPr>
          <p:nvPr/>
        </p:nvSpPr>
        <p:spPr>
          <a:xfrm>
            <a:off y="1866900" x="228600"/>
            <a:ext cy="127000" cx="8686800"/>
          </a:xfrm>
          <a:prstGeom prst="rect">
            <a:avLst/>
          </a:prstGeom>
        </p:spPr>
        <p:txBody>
          <a:bodyPr/>
          <a:lstStyle/>
          <a:p>
            <a:pPr algn="ctr"/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99" name="Proc Title 3"/>
          <p:cNvSpPr txBox="1">
            <a:spLocks noGrp="1"/>
          </p:cNvSpPr>
          <p:nvPr/>
        </p:nvSpPr>
        <p:spPr>
          <a:xfrm>
            <a:off y="1993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表“BMI_Class-HavingCVD”的统计量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00" name="Table 27"/>
          <p:cNvGraphicFramePr>
            <a:graphicFrameLocks noGrp="1"/>
          </p:cNvGraphicFramePr>
          <p:nvPr>
            <p:ph type="tbl" idx="2"/>
          </p:nvPr>
        </p:nvGraphicFramePr>
        <p:xfrm>
          <a:off x="1718945" y="2438400"/>
          <a:ext cy="1905000" cx="570547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2672715"/>
                <a:gridCol w="952500"/>
                <a:gridCol w="1106805"/>
                <a:gridCol w="97345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统计量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自由度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值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概率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Mantel-Haenszel 卡方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81.0580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&lt;.0001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Phi 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0.1368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列联系数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0.1355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Cramer V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0.1368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1" name="Proc Note 1"/>
          <p:cNvSpPr txBox="1">
            <a:spLocks noGrp="1"/>
          </p:cNvSpPr>
          <p:nvPr/>
        </p:nvSpPr>
        <p:spPr>
          <a:xfrm>
            <a:off y="4406900" x="3542030"/>
            <a:ext cy="381000" cx="205994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样本大小 = 4465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2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3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26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0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5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06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07" name="Table 28"/>
          <p:cNvGraphicFramePr>
            <a:graphicFrameLocks noGrp="1"/>
          </p:cNvGraphicFramePr>
          <p:nvPr>
            <p:ph type="tbl" idx="2"/>
          </p:nvPr>
        </p:nvGraphicFramePr>
        <p:xfrm>
          <a:off x="486410" y="1930400"/>
          <a:ext cy="4191000" cx="817054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277620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0.58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1.02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40.63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522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20.48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51.13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838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18.77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32.88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1163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26.05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45.63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60.20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2549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57.09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Female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38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0.85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1.98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59.38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499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11.18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26.04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48.87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610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13.66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31.84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42.13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769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17.22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40.14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39.80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1916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42.91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 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8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09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27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11" name="Title 1"/>
          <p:cNvSpPr>
            <a:spLocks noGrp="1"/>
          </p:cNvSpPr>
          <p:nvPr>
            <p:ph idx="1" type="title"/>
          </p:nvPr>
        </p:nvSpPr>
        <p:spPr>
          <a:xfrm>
            <a:off y="228600" x="228600"/>
            <a:ext cy="1193800" cx="8686800"/>
          </a:xfrm>
        </p:spPr>
        <p:txBody>
          <a:bodyPr/>
          <a:lstStyle/>
          <a:p>
            <a:pPr algn="ctr"/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The association analysis between</a:t>
            </a:r>
            <a:br>
              <a:rPr lang="zh-CN" smtClean="0"/>
            </a:br>
            <a:r>
              <a:rPr smtClean="0" dirty="0" sz="4200" lang="zh-CN">
                <a:solidFill>
                  <a:schemeClr val="tx1"/>
                </a:solidFill>
                <a:latin typeface="+mj-lt"/>
                <a:ea typeface="+mj-ea"/>
              </a:rPr>
              <a:t>Discrete Data and CVD status</a:t>
            </a:r>
            <a:endParaRPr lang="zh-CN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212" name="Proc Title 1"/>
          <p:cNvSpPr txBox="1">
            <a:spLocks noGrp="1"/>
          </p:cNvSpPr>
          <p:nvPr/>
        </p:nvSpPr>
        <p:spPr>
          <a:xfrm>
            <a:off y="1485900" x="228600"/>
            <a:ext cy="381000" cx="8686800"/>
          </a:xfrm>
          <a:prstGeom prst="rect">
            <a:avLst/>
          </a:prstGeom>
        </p:spPr>
        <p:txBody>
          <a:bodyPr/>
          <a:lstStyle/>
          <a:p>
            <a:pPr algn="ctr"/>
            <a:r>
              <a:rPr smtClean="0" dirty="0" sz="2000" lang="zh-CN">
                <a:solidFill>
                  <a:schemeClr val="tx1"/>
                </a:solidFill>
                <a:latin typeface="+mn-lt"/>
                <a:ea typeface="+mn-ea"/>
              </a:rPr>
              <a:t>FREQ 过程</a:t>
            </a:r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aphicFrame>
        <p:nvGraphicFramePr>
          <p:cNvPr id="213" name="Table 29"/>
          <p:cNvGraphicFramePr>
            <a:graphicFrameLocks noGrp="1"/>
          </p:cNvGraphicFramePr>
          <p:nvPr>
            <p:ph type="tbl" idx="2"/>
          </p:nvPr>
        </p:nvGraphicFramePr>
        <p:xfrm>
          <a:off x="486410" y="1930400"/>
          <a:ext cy="2540000" cx="8170545"/>
        </p:xfrm>
        <a:graphic>
          <a:graphicData uri="http://schemas.openxmlformats.org/drawingml/2006/table">
            <a:tbl>
              <a:tblPr>
                <a:tableStyleId>{28728DF5-CD0E-624D-BD36-3F3F8ECC4EAE}</a:tableStyleId>
              </a:tblPr>
              <a:tblGrid>
                <a:gridCol w="1277620"/>
                <a:gridCol w="1587500"/>
                <a:gridCol w="1276985"/>
                <a:gridCol w="1474470"/>
                <a:gridCol w="1291590"/>
                <a:gridCol w="1262380"/>
              </a:tblGrid>
              <a:tr h="381000">
                <a:tc gridSpan="6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GENDER-BMI_Class表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GENDER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dirty="0" smtClean="0" sz="2000">
                                    </a:rPr>
                        <a:t>BMI_Class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频数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行百分比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列百分比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OVER-THIN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NORMAL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OVER-FAT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OBESITY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CN" dirty="0" smtClean="0" sz="2000">
                                    </a:rPr>
                        <a:t>合计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64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1.43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1021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22.87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1448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32.43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1932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43.27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dirty="0" smtClean="0" sz="2000">
                                    </a:rPr>
                        <a:t>4465</a:t>
                      </a:r>
                      <a:r>
                        <a:rPr lang="zh-CN" smtClean="0"/>
                        <a:t/>
                      </a:r>
                      <a:br>
                        <a:rPr lang="zh-CN" smtClean="0"/>
                      </a:br>
                      <a:r>
                        <a:rPr lang="zh-CN" dirty="0" smtClean="0" sz="2000">
                                    </a:rPr>
                        <a:t>100.00</a:t>
                      </a:r>
                      <a:endParaRPr lang="zh-CN" dirty="0"/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4" name="Date Placeholder 1"/>
          <p:cNvSpPr>
            <a:spLocks noGrp="1"/>
          </p:cNvSpPr>
          <p:nvPr>
            <p:ph idx="3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5" name="Slide Number Placeholder 1"/>
          <p:cNvSpPr>
            <a:spLocks noGrp="1"/>
          </p:cNvSpPr>
          <p:nvPr>
            <p:ph idx="4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28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6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17" title="SGPlot 过程" name="SGPlot8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524000"/>
            <a:ext cy="4572000" cx="6096000"/>
          </a:xfrm>
          <a:prstGeom prst="rect">
            <a:avLst/>
          </a:prstGeom>
        </p:spPr>
      </p:pic>
      <p:sp>
        <p:nvSpPr>
          <p:cNvPr id="218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9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29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0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21" title="SGPlot 过程" name="SGPlot9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524000"/>
            <a:ext cy="4572000" cx="6096000"/>
          </a:xfrm>
          <a:prstGeom prst="rect">
            <a:avLst/>
          </a:prstGeom>
        </p:spPr>
      </p:pic>
      <p:sp>
        <p:nvSpPr>
          <p:cNvPr id="222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3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30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4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25" title="SGPlot 过程" name="SGPlot10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524000"/>
            <a:ext cy="4572000" cx="6096000"/>
          </a:xfrm>
          <a:prstGeom prst="rect">
            <a:avLst/>
          </a:prstGeom>
        </p:spPr>
      </p:pic>
      <p:sp>
        <p:nvSpPr>
          <p:cNvPr id="226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27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31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8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29" title="SGPlot 过程" name="SGPlot11.png" descr="SGPlot 过程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y="228600" x="1524000"/>
            <a:ext cy="4572000" cx="6096000"/>
          </a:xfrm>
          <a:prstGeom prst="rect">
            <a:avLst/>
          </a:prstGeom>
        </p:spPr>
      </p:pic>
      <p:sp>
        <p:nvSpPr>
          <p:cNvPr id="230" name="Date Placeholder 1"/>
          <p:cNvSpPr>
            <a:spLocks noGrp="1"/>
          </p:cNvSpPr>
          <p:nvPr>
            <p:ph idx="2" type="dt"/>
          </p:nvPr>
        </p:nvSpPr>
        <p:spPr>
          <a:xfrm>
            <a:off y="6388100" x="228600"/>
            <a:ext cy="241300" cx="2171700"/>
          </a:xfrm>
        </p:spPr>
        <p:txBody>
          <a:bodyPr/>
          <a:lstStyle/>
          <a:p>
            <a:pPr algn="l"/>
            <a:fld id="{20CE6884-709E-A34F-91FF-D7B15FF765EB}" type="datetime1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Tuesday, December 2, 2025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1" name="Slide Number Placeholder 1"/>
          <p:cNvSpPr>
            <a:spLocks noGrp="1"/>
          </p:cNvSpPr>
          <p:nvPr>
            <p:ph idx="3" type="sldNum"/>
          </p:nvPr>
        </p:nvSpPr>
        <p:spPr>
          <a:xfrm>
            <a:off y="6388100" x="6743700"/>
            <a:ext cy="241300" cx="2171700"/>
          </a:xfrm>
        </p:spPr>
        <p:txBody>
          <a:bodyPr/>
          <a:lstStyle/>
          <a:p>
            <a:pPr algn="r"/>
            <a:fld id="{B09985FE-4A9B-E943-BC5F-D07D97B0F7D6}" type="slidenum">
              <a:rPr smtClean="0" dirty="0" sz="900" lang="zh-CN">
                <a:solidFill>
                  <a:schemeClr val="tx1"/>
                </a:solidFill>
                <a:latin typeface="+mn-lt"/>
                <a:ea typeface="+mn-ea"/>
              </a:rPr>
              <a:t>32</a:t>
            </a:fld>
            <a:endParaRPr lang="zh-CN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Light">
  <a:themeElements>
    <a:clrScheme name="ODS Light">
      <a:dk1>
        <a:srgbClr val="000000"/>
      </a:dk1>
      <a:lt1>
        <a:srgbClr val="FFFFFF"/>
      </a:lt1>
      <a:dk2>
        <a:srgbClr val="646464"/>
      </a:dk2>
      <a:lt2>
        <a:srgbClr val="D8D8D8"/>
      </a:lt2>
      <a:accent1>
        <a:srgbClr val="3D5AAE"/>
      </a:accent1>
      <a:accent2>
        <a:srgbClr val="90B328"/>
      </a:accent2>
      <a:accent3>
        <a:srgbClr val="9D2E14"/>
      </a:accent3>
      <a:accent4>
        <a:srgbClr val="F8B93C"/>
      </a:accent4>
      <a:accent5>
        <a:srgbClr val="6590CD"/>
      </a:accent5>
      <a:accent6>
        <a:srgbClr val="5E6C10"/>
      </a:accent6>
      <a:hlink>
        <a:srgbClr val="00709F"/>
      </a:hlink>
      <a:folHlink>
        <a:srgbClr val="7A40A6"/>
      </a:folHlink>
    </a:clrScheme>
    <a:fontScheme name="ODS Light">
      <a:majorFont>
        <a:latin typeface="MYingHei_18030_C-Medium"/>
        <a:ea typeface=""/>
        <a:cs typeface=""/>
        <a:font script="Hans" typeface="MYingHei_18030_C-Medium"/>
      </a:majorFont>
      <a:minorFont>
        <a:latin typeface="MYingHei_18030_C-Medium"/>
        <a:ea typeface=""/>
        <a:cs typeface=""/>
        <a:font script="Hans" typeface="MYingHei_18030_C-Medium"/>
      </a:minorFont>
    </a:fontScheme>
    <a:fmtScheme name="ODS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cmpd="sng" algn="ctr" w="9525" cap="flat">
          <a:solidFill>
            <a:schemeClr val="phClr"/>
          </a:solidFill>
          <a:prstDash val="solid"/>
        </a:ln>
        <a:ln cmpd="sng" algn="ctr" w="25400" cap="flat">
          <a:solidFill>
            <a:schemeClr val="phClr"/>
          </a:solidFill>
          <a:prstDash val="solid"/>
        </a:ln>
        <a:ln cmpd="sng" algn="ctr" w="3810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32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baseType="lpstr" size="29">
      <vt:lpstr>ODS Theme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mean difference analysis between Diseased and non-disease samples</vt:lpstr>
      <vt:lpstr>The BMI difference between Male and Female samples</vt:lpstr>
      <vt:lpstr>The BMI difference between Male and Female samples</vt:lpstr>
      <vt:lpstr>The BMI difference between Male and Female samples</vt:lpstr>
      <vt:lpstr>The BMI difference between Male and Female samples</vt:lpstr>
      <vt:lpstr>The BMI difference between Male and Female samples</vt:lpstr>
      <vt:lpstr>The BMI difference between Male and Female samples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  <vt:lpstr>The association analysis between Discrete Data and CVD status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!-- saslongversion 9.04.01M8P02222023 -->
  <!-- syshostinfolong Linux LIN X64 5.14.0-284.30.1.el9_2.x86_64 #1 SMP PREEMPT_DYNAMIC Sat Sep 16 09:55:41 UTC 2023 x86_64 Rocky Linux release 9.2 (Blue Onyx)  -->
  <dc:creator>u64324048</dc:creator>
  <cp:lastModifiedBy>u64324048</cp:lastModifiedBy>
  <cp:revision>1</cp:revision>
  <dcterms:created xsi:type="dcterms:W3CDTF">2025-12-02T14:20:22+00:00</dcterms:created>
  <dcterms:modified xsi:type="dcterms:W3CDTF">2025-12-02T14:20:22+00:00</dcterms:modified>
</cp:coreProperties>
</file>